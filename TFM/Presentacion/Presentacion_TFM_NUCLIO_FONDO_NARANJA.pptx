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1A1A1A"/>
                </a:solidFill>
              </a:defRPr>
            </a:pPr>
            <a:r>
              <a:t>easyMoney: Maximización de Rentabilidad mediante Analítica Predictiva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Estrategia de Marketing Data-Driven para Optimizar Captación y Retención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Grupo 1 - Nuclio Digital School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FF6B35"/>
                </a:solidFill>
              </a:defRPr>
            </a:pPr>
            <a:r>
              <a:t>easyMoney: Crisis de Rentabilidad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A1A1A"/>
                </a:solidFill>
              </a:defRPr>
            </a:pPr>
            <a:r>
              <a:t>Empresa: Plataforma multi-canal de productos financieros (4 años)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Problema crítico: Fondos agotados sin EBITDA positivo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Presión inversores: Lion Global exige rentabilidad AHORA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Cambio estratégico: De captación agresiva → Rentabilización cartera actual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Cifras clave: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442,000 clientes activos (Mayo 2019)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5 familias de productos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Desafío: ¿Cómo maximizar ingresos sin invertir en captación masiva?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FF6B35"/>
                </a:solidFill>
              </a:defRPr>
            </a:pPr>
            <a:r>
              <a:t>Metodología: De Datos a Decisiones Comerciales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A1A1A"/>
                </a:solidFill>
              </a:defRPr>
            </a:pPr>
            <a:r>
              <a:t>Los 4 pilares: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1. 📊 EDA + CALIDAD DE DATOS (PowerBI)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   Exploración 442K clientes, 17 meses históricos, Dashboard ejecutivo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2. 🎯 PROPENSIÓN DE COMPRA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   Modelos predictivos por producto, Priorización de campañas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3. 👥 SEGMENTACIÓN (CLUSTERING)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   6 perfiles de cliente, Personalización de mensajes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4. 💰 VALOR DEL CLIENTE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   Priorización por margen, ROI de campañas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FF6B35"/>
                </a:solidFill>
              </a:defRPr>
            </a:pPr>
            <a:r>
              <a:t>Dashboard Ejecutivo: Monitorización en Tiempo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Métricas Mayo 2019:</a:t>
            </a:r>
          </a:p>
          <a:p/>
          <a:p>
            <a:pPr>
              <a:defRPr sz="1800">
                <a:solidFill>
                  <a:srgbClr val="1A1A1A"/>
                </a:solidFill>
              </a:defRPr>
            </a:pPr>
            <a:r>
              <a:t>• 10,211 ventas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€8.07M beneficio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€606.88 margen medio</a:t>
            </a:r>
          </a:p>
          <a:p/>
          <a:p>
            <a:pPr>
              <a:defRPr sz="1800">
                <a:solidFill>
                  <a:srgbClr val="1A1A1A"/>
                </a:solidFill>
              </a:defRPr>
            </a:pPr>
            <a:r>
              <a:t>Insights: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Pico Octubre: 28K ventas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Caída vs 2018: -3K/mes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Madrid/Málaga lideran</a:t>
            </a:r>
          </a:p>
        </p:txBody>
      </p:sp>
      <p:pic>
        <p:nvPicPr>
          <p:cNvPr id="4" name="Picture 3" descr="imagen_3_temporal_geograf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71600"/>
            <a:ext cx="50292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FF6B35"/>
                </a:solidFill>
              </a:defRPr>
            </a:pPr>
            <a:r>
              <a:t>¿Dónde Están Nuestros Mejores Clientes?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Perfil dominante:</a:t>
            </a:r>
          </a:p>
          <a:p/>
          <a:p>
            <a:pPr>
              <a:defRPr sz="1800">
                <a:solidFill>
                  <a:srgbClr val="1A1A1A"/>
                </a:solidFill>
              </a:defRPr>
            </a:pPr>
            <a:r>
              <a:t>• 67% tienen 20-30 años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296K clientes millennials</a:t>
            </a:r>
          </a:p>
          <a:p/>
          <a:p>
            <a:pPr>
              <a:defRPr sz="1800">
                <a:solidFill>
                  <a:srgbClr val="1A1A1A"/>
                </a:solidFill>
              </a:defRPr>
            </a:pPr>
            <a:r>
              <a:t>Geografía: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País Vasco: 0.76 ratio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Cantabria: 0.70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Madrid: 0.63</a:t>
            </a:r>
          </a:p>
          <a:p/>
          <a:p>
            <a:pPr>
              <a:defRPr sz="1800">
                <a:solidFill>
                  <a:srgbClr val="1A1A1A"/>
                </a:solidFill>
              </a:defRPr>
            </a:pPr>
            <a:r>
              <a:t>Insight: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Regiones pequeñas convierten mejor</a:t>
            </a:r>
          </a:p>
        </p:txBody>
      </p:sp>
      <p:pic>
        <p:nvPicPr>
          <p:cNvPr id="4" name="Picture 3" descr="imagen_4_demograf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71600"/>
            <a:ext cx="50292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FF6B35"/>
                </a:solidFill>
              </a:defRPr>
            </a:pPr>
            <a:r>
              <a:t>Anatomía de la Rentabilidad por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Dos mundos diferentes:</a:t>
            </a:r>
          </a:p>
          <a:p/>
          <a:p>
            <a:pPr>
              <a:defRPr sz="1800">
                <a:solidFill>
                  <a:srgbClr val="1A1A1A"/>
                </a:solidFill>
              </a:defRPr>
            </a:pPr>
            <a:r>
              <a:t>🔵 BAJO MARGEN (€20-100):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Cuentas: €40-80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Tarjetas: €40-80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Lead generation</a:t>
            </a:r>
          </a:p>
          <a:p/>
          <a:p>
            <a:pPr>
              <a:defRPr sz="1800">
                <a:solidFill>
                  <a:srgbClr val="1A1A1A"/>
                </a:solidFill>
              </a:defRPr>
            </a:pPr>
            <a:r>
              <a:t>🔵 ALTO MARGEN (€1K-15K):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Inversión: €1K-10K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Pensión: hasta €15K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Préstamo: €1K-10K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Upselling prioritario</a:t>
            </a:r>
          </a:p>
          <a:p/>
          <a:p>
            <a:pPr>
              <a:defRPr sz="1800">
                <a:solidFill>
                  <a:srgbClr val="1A1A1A"/>
                </a:solidFill>
              </a:defRPr>
            </a:pPr>
            <a:r>
              <a:t>Conclusión: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1 venta Pensión = 100-250 ventas Tarjeta</a:t>
            </a:r>
          </a:p>
        </p:txBody>
      </p:sp>
      <p:pic>
        <p:nvPicPr>
          <p:cNvPr id="4" name="Picture 3" descr="imagen_1_margenes_distrib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45720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FF6B35"/>
                </a:solidFill>
              </a:defRPr>
            </a:pPr>
            <a:r>
              <a:t>¿Qué Productos Nos Dan De Comer?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🏆 PENSIÓN DOMINA:</a:t>
            </a:r>
          </a:p>
          <a:p/>
          <a:p>
            <a:pPr>
              <a:defRPr sz="1800">
                <a:solidFill>
                  <a:srgbClr val="1A1A1A"/>
                </a:solidFill>
              </a:defRPr>
            </a:pPr>
            <a:r>
              <a:t>• 79% del margen total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€5,976 margen promedio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Solo 19,369 clientes (4.4%)</a:t>
            </a:r>
          </a:p>
          <a:p/>
          <a:p>
            <a:pPr>
              <a:defRPr sz="1800">
                <a:solidFill>
                  <a:srgbClr val="1A1A1A"/>
                </a:solidFill>
              </a:defRPr>
            </a:pPr>
            <a:r>
              <a:t>💰 OPORTUNIDAD:</a:t>
            </a:r>
          </a:p>
          <a:p/>
          <a:p>
            <a:pPr>
              <a:defRPr sz="1800">
                <a:solidFill>
                  <a:srgbClr val="1A1A1A"/>
                </a:solidFill>
              </a:defRPr>
            </a:pPr>
            <a:r>
              <a:t>Si subimos penetración a 10%: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+22,000 conversiones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+€132M revenue potencial</a:t>
            </a:r>
          </a:p>
          <a:p/>
          <a:p>
            <a:pPr>
              <a:defRPr sz="1800">
                <a:solidFill>
                  <a:srgbClr val="1A1A1A"/>
                </a:solidFill>
              </a:defRPr>
            </a:pPr>
            <a:r>
              <a:t>Decisión estratégica: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Prioridad #1 = Planes de Pensiones</a:t>
            </a:r>
          </a:p>
        </p:txBody>
      </p:sp>
      <p:pic>
        <p:nvPicPr>
          <p:cNvPr id="4" name="Picture 3" descr="imagen_5_margen_famil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45720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 sz="4800">
                <a:solidFill>
                  <a:srgbClr val="FFFFFF"/>
                </a:solidFill>
              </a:defRPr>
            </a:pPr>
            <a:r>
              <a:t>TAREA 2: MODELOS DE PROPENSIÓN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Del 'Spray &amp; Pray' al Marketing de Precisión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A1A1A"/>
                </a:solidFill>
              </a:defRPr>
            </a:pPr>
            <a:r>
              <a:t>Del 'Spray &amp; Pray' al Marketing de Precisión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A1A1A"/>
                </a:solidFill>
              </a:defRPr>
            </a:pPr>
            <a:r>
              <a:t>Problema tradicional: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❌ Campañas masivas a toda la base → Conversión &lt;1%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❌ ROI negativo, saturación, unsubscribes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Solución: Propensión de Compra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✅ Predecir quién comprará ANTES de lanzar campaña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✅ Priorizar clientes con mayor probabilidad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✅ Personalizar mensajes por perfil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✅ Maximizar conversión y ROI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Variables clave: Recencia, Frecuencia, Comportamiento,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Sociodemográficos, Canal de entrada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A1A1A"/>
                </a:solidFill>
              </a:defRPr>
            </a:pPr>
            <a:r>
              <a:t>Tres Modelos, Tres Oportunidades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A1A1A"/>
                </a:solidFill>
              </a:defRPr>
            </a:pPr>
            <a:r>
              <a:t>1. PENSION PLAN (Margen: €6,071/cliente)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   Target: 425K clientes elegibles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2. PAYMENT CARD (Margen: €60/cliente)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   Target: 440K clientes elegibles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3. INVESTMENT FAMILY (Margen: €1,699/cliente)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   Target: 431K clientes elegibles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Técnica: XGBoost (Machine Learning)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Datos: 17 meses históricos (2018-2019)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Métricas: Recall 90-97%, ROC AUC 0.98-0.99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A1A1A"/>
                </a:solidFill>
              </a:defRPr>
            </a:pPr>
            <a:r>
              <a:t>De 442K Clientes a Listas Accionables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A1A1A"/>
                </a:solidFill>
              </a:defRPr>
            </a:pPr>
            <a:r>
              <a:t>Segmentación por propensión (score 0-1):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🔥 TOP (≥0.80): Campaña premium, incentivo alto, contacto directo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🔥 HIGH (0.60-0.80): Campaña estándar, incentivo medio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⚠️ MEDIUM (0.50-0.60): Campaña soft, remarketing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❌ MID-LOW (0.40-0.50): Nurturing, sin inversión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❌ LOW (&lt;0.40): No contactar (coste &gt; beneficio)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PENSION PLAN: 14,403 clientes Top+High (3.4% base)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PAYMENT CARD: 13,891 clientes Top+High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INVESTMENT: 12,184 clientes Top+High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A1A1A"/>
                </a:solidFill>
              </a:defRPr>
            </a:pPr>
            <a:r>
              <a:t>¿Funciona en la Vida Real? SÍ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A1A1A"/>
                </a:solidFill>
              </a:defRPr>
            </a:pPr>
            <a:r>
              <a:t>Validación en datos reales Abril 2019: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Sin modelo (orgánico):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Base: 85,232 clientes → 146 conversiones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Tasa conversión: 0.17%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Con modelo (Top+High):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Base: 13,000 clientes → 502 conversiones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Tasa conversión: 3.8%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🎯 MEJORA: 22x más conversión (3.8% vs 0.17%)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🎯 Triplica captación mensual con solo 15% contactos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Conversión por producto: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Pension Plan: 3.8% | Payment Card: 8.9% | Investment: 0.19%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A1A1A"/>
                </a:solidFill>
              </a:defRPr>
            </a:pPr>
            <a:r>
              <a:t>Propensión × Clustering: Hiperpersonalización</a:t>
            </a:r>
          </a:p>
        </p:txBody>
      </p:sp>
      <p:pic>
        <p:nvPicPr>
          <p:cNvPr id="3" name="Picture 2" descr="imagen_2_propension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 sz="4800">
                <a:solidFill>
                  <a:srgbClr val="FFFFFF"/>
                </a:solidFill>
              </a:defRPr>
            </a:pPr>
            <a:r>
              <a:t>TAREA 3: CLUSTERING Y SEGMENTACIÓN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Un Mensaje Para Todos = Mensaje Para Nadie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FF6B35"/>
                </a:solidFill>
              </a:defRPr>
            </a:pPr>
            <a:r>
              <a:t>¿Por Qué Segmentar?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A1A1A"/>
                </a:solidFill>
              </a:defRPr>
            </a:pPr>
            <a:r>
              <a:t>El problema del marketing 'one-size-fits-all':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❌ Mismo mensaje para cliente de 25 y 45 años → Nadie se siente hablado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❌ Oferta genérica a premium y básico → Baja relevancia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Solución: Clustering (Machine Learning No Supervisado)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✅ Agrupar clientes con características similares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✅ Personalizar mensajes por segmento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✅ Optimizar inversión en segmentos rentables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Técnica: PCA (6 componentes) + K-Means (6 clusters)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Variables: Sociodemográficas, Comportamiento, Geográficas, Productos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FF6B35"/>
                </a:solidFill>
              </a:defRPr>
            </a:pPr>
            <a:r>
              <a:t>Los 6 Perfiles de Cliente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A1A1A"/>
                </a:solidFill>
              </a:defRPr>
            </a:pPr>
            <a:r>
              <a:t>1. Particulares Sin Cuenta (10.8% - 47K): Reengagement, bajo valor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2. Particulares Premium Digitales (21.9% - 97K): 🏆 TESORO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   Profesionales 25-35, alta propensión Pension+Investment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3. Jóvenes Recientes (16.9% - 75K): Cross-selling rápido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4. Jóvenes Potenciales (25.7% - 114K): Nurturing largo plazo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5. Leads Jóvenes (14.4% - 64K): Bajo coste, esperar maduración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6. Jóvenes Básicos Activos (10.3% - 46K): Alta para Investment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FF6B35"/>
                </a:solidFill>
              </a:defRPr>
            </a:pPr>
            <a:r>
              <a:t>Matriz de Priorización: Propensión × 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A1A1A"/>
                </a:solidFill>
              </a:defRPr>
            </a:pPr>
            <a:r>
              <a:t>🎯 PRIORIDAD MÁXIMA (80% presupuesto):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Cluster 2: Particulares Premium Digitales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  → Propensión Top Pension+Investment (€6K-1.7K margen)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Cluster 6: Jóvenes Básicos Activos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  → Propensión High Investment+Tarjeta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⚠️ PRIORIDAD MEDIA (15% presupuesto):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Cluster 3: Jóvenes Recientes → Cross-selling automatizado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❌ DESCARTAR (0-5% presupuesto):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Cluster 5: Leads Jóvenes → ROI negativo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Cluster 1: Particulares Sin Cuenta → Inactivos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Resultado: 80% presupuesto en 32% clientes (Clusters 2+6)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FF6B35"/>
                </a:solidFill>
              </a:defRPr>
            </a:pPr>
            <a:r>
              <a:t>Mismo Producto, Diferente Historia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A1A1A"/>
                </a:solidFill>
              </a:defRPr>
            </a:pPr>
            <a:r>
              <a:t>Ejemplo: Campaña PENSION PLAN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Para 'Particulares Premium Digitales':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Mensaje: 'Optimiza tu futuro: Plan con ventajas fiscales'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Tono: Profesional, datos, beneficio fiscal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Canal: Email ejecutivo + app notification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Incentivo: Asesoría gratuita personalizada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Para 'Jóvenes Básicos Activos':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Mensaje: 'Tu yo del futuro te lo agradecerá: 50€/mes'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Tono: Cercano, aspiracional, simple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Canal: Push app + Instagram ads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Incentivo: Bono bienvenida €50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Resultado: Conversion rate 3-5x superior vs campaña genérica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 sz="4800">
                <a:solidFill>
                  <a:srgbClr val="FFFFFF"/>
                </a:solidFill>
              </a:defRPr>
            </a:pPr>
            <a:r>
              <a:t>TAREA 4: VALOR DEL CLIENTE Y ESTRATEGIA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El ROI Lo Es Todo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A1A1A"/>
                </a:solidFill>
              </a:defRPr>
            </a:pPr>
            <a:r>
              <a:t>No Se Trata de Vender Más, Sino de Vender Mejor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A1A1A"/>
                </a:solidFill>
              </a:defRPr>
            </a:pPr>
            <a:r>
              <a:t>Ranking productos por margen: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1. Pension Plan: €6,071 → 1 venta = 100 ventas tarjeta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2. Investment: €1,699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3. Payment Card: €60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4. Account: €70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Ejemplo Payment Card: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296 conversiones × €60 = €17,760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Coste campaña: ~€30,000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ROI: NEGATIVO (-€12,240)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Ejemplo Pension Plan: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502 conversiones × €6,071 = €3,047,642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Coste campaña: ~€320,000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ROI: +€2,727,642 (851% ROI)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Conclusión: Priorizar brutalmente en productos alto margen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A1A1A"/>
                </a:solidFill>
              </a:defRPr>
            </a:pPr>
            <a:r>
              <a:t>¿Cuánto Podemos Ganar? (Pension Plan)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A1A1A"/>
                </a:solidFill>
              </a:defRPr>
            </a:pPr>
            <a:r>
              <a:t>Base: Conversión 3.8% validada, Margen €6,071/cliente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ESCENARIO 1 - BÁSICO (solo Top):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8,629 clientes → 328 conversiones → €1,991,288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Incremento vs orgánico: +149%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ESCENARIO 2 - MEDIO (Top+High): ⭐ RECOMENDADO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14,403 clientes → 547 conversiones → €3,320,837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Incremento vs orgánico: +315%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ESCENARIO 3 - AMPLIO (Top+High+Medium):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17,654 clientes → 671 conversiones → €4,073,641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Incremento vs orgánico: +409%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Proyección 3 meses: €5.4M - €7.2M revenue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(vs €2.4M orgánico = +€3M - €4.8M incrementales)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A1A1A"/>
                </a:solidFill>
              </a:defRPr>
            </a:pPr>
            <a:r>
              <a:t>Optimización de Canales: No Todos Convierten Igual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A1A1A"/>
                </a:solidFill>
              </a:defRPr>
            </a:pPr>
            <a:r>
              <a:t>Canales de ALTA conversión (Pension Plan):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1. Canal KAT: 22% conversión 🏆 → 40% presupuesto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2. Canal 003: 18% conversión → 25% presupuesto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3. Canal 007: 15% conversión → 20% presupuesto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4. Canal KFC: 12% conversión → 15% presupuesto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Resto de canales: Conversión &lt;5% → ELIMINAR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Resultado concentración: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Conversión global: 16.75% (vs 6% actual)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14,403 clientes × 16.75% = 2,413 conversiones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Revenue: €14.6M (vs €3.3M sin optimizar)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Optimización de canales puede 4x el revenue sin aumentar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A1A1A"/>
                </a:solidFill>
              </a:defRPr>
            </a:pPr>
            <a:r>
              <a:t>¿Qué Hacer con Investment y Payment Card?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A1A1A"/>
                </a:solidFill>
              </a:defRPr>
            </a:pPr>
            <a:r>
              <a:t>INVESTMENT FAMILY: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Conversión: 0.19% (muy baja)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Revenue esperado: €40K (escenario Top)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ROI: Apenas positivo (+€15K, 60%)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Recomendación: NO priorizar. Reevaluar producto/oferta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PAYMENT CARD: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Conversión: 8.9% (alta) pero margen bajo €60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Revenue: €832K (escenario amplio)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ROI: +€682K (455%) → Positivo pero limitado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Recomendación: Estrategia secundaria (20% budget)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Uso: Producto 'anzuelo' para engagement y cross-sell posterior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Conclusión: 60% esfuerzo Pension, 20% Payment Card, 20% infra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A1A1A"/>
                </a:solidFill>
              </a:defRPr>
            </a:pPr>
            <a:r>
              <a:t>Plan de Acción: 3 Meses para Rentabilidad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A1A1A"/>
                </a:solidFill>
              </a:defRPr>
            </a:pPr>
            <a:r>
              <a:t>MES 1 - QUICK WINS: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Lanzar Pension Plan Escenario Medio (14,403 clientes Top+High)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Clusters: 70% Premium Digitales + 30% Jóvenes Activos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Canales: KAT 40%, 003 30%, 007 30%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Objetivo: 500+ conversiones, €3M revenue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MES 2 - ESCALADO: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Expandir a Escenario Amplio si Mes 1 exitoso (+3,251 Medium)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Lanzar Payment Card en Clusters 3+4 (jóvenes)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Objetivo: 750 conversiones acumuladas, €4.5M revenue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MES 3 - OPTIMIZACIÓN: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Analizar datos, refinar modelos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Cross-sell Pension a compradores Payment Card (conversión 15%)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Establecer proceso repetible mensual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TOTAL 3 MESES: €5.4M-€7.2M (vs €2.4M orgánico)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A1A1A"/>
                </a:solidFill>
              </a:defRPr>
            </a:pPr>
            <a:r>
              <a:t>Entregables Para Marketing - Listo Para Usar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A1A1A"/>
                </a:solidFill>
              </a:defRPr>
            </a:pPr>
            <a:r>
              <a:t>📊 Ficheros de Datos Scored: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df_pension_plan_scored.csv (423K clientes con propensity_score)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df_payment_card_scored.csv (393K clientes)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df_inversion_family_scored.csv (431K clientes)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Importar directo a CRM/Email platform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📈 Dashboard PowerBI Interactivo: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Monitorización tiempo real, Filtros por cluster/propensión/geo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📝 Guía de Mensajes Personalizados: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Templates por Cluster × Producto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🗓️ Calendario de Campañas: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Timing óptimo, Plan A/B testing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⚙️ Soporte Técnico: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APIs scoring tiempo real, Reentrenamiento trimestral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A1A1A"/>
                </a:solidFill>
              </a:defRPr>
            </a:pPr>
            <a:r>
              <a:t>De la Crisis a la Rentabilidad en 90 Días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A1A1A"/>
                </a:solidFill>
              </a:defRPr>
            </a:pPr>
            <a:r>
              <a:t>LO QUE HEMOS DEMOSTRADO: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✅ Datos como activo: 442K clientes = €50M+ revenue no realizado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✅ Priorización: Pension (€6K) debe ser 80% del esfuerzo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✅ Segmentación: 80% presupuesto en 32% clientes (Clusters 2+6)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✅ Propensión: 3.8% vs 0.17% orgánico = 22x mejora validada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✅ Canales: 4 estrella con conversión 12-22%, eliminar resto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IMPACTO ESPERADO: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Revenue incremental: €3M - €4.8M en 90 días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ROI: 2,500% - 6,000% (Pension Plan)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Path to profitability: EBITDA positivo Q3 2019</a:t>
            </a:r>
          </a:p>
          <a:p>
            <a:pPr>
              <a:defRPr sz="1800"/>
            </a:pP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NEXT STEPS: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Semana 1: Aprobación plan | Semana 2-3: Preparación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• Día 22: LANZAMIENTO Fase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¿PREGUNTAS?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A1A1A"/>
                </a:solidFill>
              </a:defRPr>
            </a:pPr>
            <a:r>
              <a:t>Grupo 1 - Nuclio Digital School | dscesp-0525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